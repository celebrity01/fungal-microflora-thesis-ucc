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8450" y="95339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1334244"/>
            <a:ext cx="86360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Fungal Microflora of Indoor Air in Reception Areas of Student Halls of Residence at the University of Cape Coast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267200" y="3016895"/>
            <a:ext cx="609600" cy="381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59732" y="3308896"/>
            <a:ext cx="3424535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B.Sc. Microbiology Thesis Defense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97753" y="3694807"/>
            <a:ext cx="3548345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55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Department of Microbiology &amp; Biochemistry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08961" y="3993059"/>
            <a:ext cx="2526078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FFFFFF">
                    <a:alpha val="55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University of Cape Coast · 2024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301"/>
            <a:ext cx="85344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B43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Outline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600" y="903982"/>
            <a:ext cx="507950" cy="381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253704"/>
            <a:ext cx="1193750" cy="1375023"/>
          </a:xfrm>
          <a:prstGeom prst="roundRect">
            <a:avLst>
              <a:gd name="adj" fmla="val 10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482304"/>
            <a:ext cx="1226752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DCBD7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2939355"/>
            <a:ext cx="110229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" y="3204567"/>
            <a:ext cx="110229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30301" y="2253704"/>
            <a:ext cx="1193750" cy="1375023"/>
          </a:xfrm>
          <a:prstGeom prst="roundRect">
            <a:avLst>
              <a:gd name="adj" fmla="val 10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82701" y="2482304"/>
            <a:ext cx="1226752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DCBD7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82701" y="2939355"/>
            <a:ext cx="110229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82701" y="3204567"/>
            <a:ext cx="1155636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1002" y="2253704"/>
            <a:ext cx="1193750" cy="1375023"/>
          </a:xfrm>
          <a:prstGeom prst="roundRect">
            <a:avLst>
              <a:gd name="adj" fmla="val 10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03402" y="2482304"/>
            <a:ext cx="1226752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DCBD7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03402" y="2939355"/>
            <a:ext cx="110229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Literature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3402" y="3204567"/>
            <a:ext cx="1155636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1702" y="2253704"/>
            <a:ext cx="1193750" cy="1375023"/>
          </a:xfrm>
          <a:prstGeom prst="roundRect">
            <a:avLst>
              <a:gd name="adj" fmla="val 10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24102" y="2482304"/>
            <a:ext cx="1226752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DCBD7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24102" y="2939355"/>
            <a:ext cx="1155636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Methods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24102" y="3204567"/>
            <a:ext cx="110229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Study design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2403" y="2253704"/>
            <a:ext cx="1193750" cy="1375023"/>
          </a:xfrm>
          <a:prstGeom prst="roundRect">
            <a:avLst>
              <a:gd name="adj" fmla="val 10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44803" y="2482304"/>
            <a:ext cx="1226752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DCBD7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044803" y="2939355"/>
            <a:ext cx="1155636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44803" y="3204567"/>
            <a:ext cx="1155636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Findings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13104" y="2253704"/>
            <a:ext cx="1193750" cy="1375023"/>
          </a:xfrm>
          <a:prstGeom prst="roundRect">
            <a:avLst>
              <a:gd name="adj" fmla="val 10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65504" y="2482304"/>
            <a:ext cx="1226752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DCBD7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65504" y="2939355"/>
            <a:ext cx="110229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65504" y="3204567"/>
            <a:ext cx="1048961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D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19788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Introduction &amp; Background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080492"/>
            <a:ext cx="38100" cy="406301"/>
          </a:xfrm>
          <a:prstGeom prst="roundRect">
            <a:avLst>
              <a:gd name="adj" fmla="val 66667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1055191"/>
            <a:ext cx="8343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Indoor Air Quality &amp; Health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0100" y="1359991"/>
            <a:ext cx="8121015" cy="53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Indoor air quality is critical in high-occupancy buildings where occupants are exposed to airborne microorganisms for extended periods.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2060972"/>
            <a:ext cx="38100" cy="406301"/>
          </a:xfrm>
          <a:prstGeom prst="roundRect">
            <a:avLst>
              <a:gd name="adj" fmla="val 66667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0100" y="2035671"/>
            <a:ext cx="8343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Fungal Spores as Bioaerosols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0100" y="2340471"/>
            <a:ext cx="8121015" cy="53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Fungal spores cause respiratory allergies, opportunistic infections, and mycotoxicosis, especially in immunocompromised individuals.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041452"/>
            <a:ext cx="38100" cy="406301"/>
          </a:xfrm>
          <a:prstGeom prst="roundRect">
            <a:avLst>
              <a:gd name="adj" fmla="val 66667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0100" y="3016151"/>
            <a:ext cx="8343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Student Halls of Residence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0100" y="3320951"/>
            <a:ext cx="8121015" cy="53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Reception areas are high-traffic transitional zones, potential hotspots for fungal spore accumulation and dispersal.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4021931"/>
            <a:ext cx="38100" cy="406301"/>
          </a:xfrm>
          <a:prstGeom prst="roundRect">
            <a:avLst>
              <a:gd name="adj" fmla="val 66667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3996630"/>
            <a:ext cx="8343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WHO Guideline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" y="4301430"/>
            <a:ext cx="8121015" cy="53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WHO recommends indoor fungal concentrations should not exceed 50 CFU/m³ for acceptable air quality in public buildings.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D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96881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Research Objectives &amp; 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625352"/>
            <a:ext cx="507950" cy="381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790402"/>
            <a:ext cx="4124902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B43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600" y="2198043"/>
            <a:ext cx="3555950" cy="680442"/>
          </a:xfrm>
          <a:prstGeom prst="rect">
            <a:avLst/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3412" y="2198043"/>
            <a:ext cx="0" cy="680442"/>
          </a:xfrm>
          <a:prstGeom prst="line">
            <a:avLst/>
          </a:prstGeom>
          <a:noFill/>
          <a:ln w="47625">
            <a:solidFill>
              <a:srgbClr val="DCBD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926" y="2324993"/>
            <a:ext cx="3310570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 Determine fungal spore concentrations (CFU/m³) in reception areas of six halls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979986"/>
            <a:ext cx="3555950" cy="680442"/>
          </a:xfrm>
          <a:prstGeom prst="rect">
            <a:avLst/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2979986"/>
            <a:ext cx="0" cy="680442"/>
          </a:xfrm>
          <a:prstGeom prst="line">
            <a:avLst/>
          </a:prstGeom>
          <a:noFill/>
          <a:ln w="47625">
            <a:solidFill>
              <a:srgbClr val="DCB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926" y="3106936"/>
            <a:ext cx="3310570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2. Identify and characterize the fungal species present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3761929"/>
            <a:ext cx="3555950" cy="467171"/>
          </a:xfrm>
          <a:prstGeom prst="rect">
            <a:avLst/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33412" y="3761929"/>
            <a:ext cx="0" cy="467171"/>
          </a:xfrm>
          <a:prstGeom prst="line">
            <a:avLst/>
          </a:prstGeom>
          <a:noFill/>
          <a:ln w="47625">
            <a:solidFill>
              <a:srgbClr val="DCBD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926" y="3888879"/>
            <a:ext cx="3468216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3. Assess antifungal susceptibility of isolates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8701" y="1530251"/>
            <a:ext cx="12650" cy="2793950"/>
          </a:xfrm>
          <a:prstGeom prst="rect">
            <a:avLst/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84502" y="1568202"/>
            <a:ext cx="507950" cy="38100"/>
          </a:xfrm>
          <a:prstGeom prst="rect">
            <a:avLst/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84502" y="1733252"/>
            <a:ext cx="3911545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B43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Research Questions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84502" y="2140893"/>
            <a:ext cx="3555950" cy="718542"/>
          </a:xfrm>
          <a:prstGeom prst="roundRect">
            <a:avLst>
              <a:gd name="adj" fmla="val 17675"/>
            </a:avLst>
          </a:prstGeom>
          <a:noFill/>
          <a:ln w="19050">
            <a:solidFill>
              <a:srgbClr val="A8D4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81252" y="2286893"/>
            <a:ext cx="3320571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are the fungal spore concentrations in the reception areas?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84502" y="2960936"/>
            <a:ext cx="3555950" cy="505271"/>
          </a:xfrm>
          <a:prstGeom prst="roundRect">
            <a:avLst>
              <a:gd name="adj" fmla="val 25135"/>
            </a:avLst>
          </a:prstGeom>
          <a:noFill/>
          <a:ln w="19050">
            <a:solidFill>
              <a:srgbClr val="A8D4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81252" y="3106936"/>
            <a:ext cx="3478694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fungal species dominate indoor air?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84502" y="3567708"/>
            <a:ext cx="3555950" cy="718542"/>
          </a:xfrm>
          <a:prstGeom prst="roundRect">
            <a:avLst>
              <a:gd name="adj" fmla="val 17675"/>
            </a:avLst>
          </a:prstGeom>
          <a:noFill/>
          <a:ln w="19050">
            <a:solidFill>
              <a:srgbClr val="A8D4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81252" y="3713708"/>
            <a:ext cx="3320571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Are isolated species susceptible to common antifungals?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4651"/>
            <a:ext cx="5149639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Literature Review Highlights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600" y="752326"/>
            <a:ext cx="507950" cy="381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17377"/>
            <a:ext cx="7924800" cy="668536"/>
          </a:xfrm>
          <a:prstGeom prst="roundRect">
            <a:avLst>
              <a:gd name="adj" fmla="val 1519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6826" y="10538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0382" y="1130052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E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28576" y="1053852"/>
            <a:ext cx="216465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Aspergillus Dominance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28576" y="1272927"/>
            <a:ext cx="7227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Aspergillus species are consistently the predominant indoor fungi in tropical regions (Awosika et al., 2014).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600" y="1674763"/>
            <a:ext cx="7924800" cy="864096"/>
          </a:xfrm>
          <a:prstGeom prst="roundRect">
            <a:avLst>
              <a:gd name="adj" fmla="val 1175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6826" y="18112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0382" y="1887438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E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28576" y="1811238"/>
            <a:ext cx="173896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Temporal Variation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8576" y="2030313"/>
            <a:ext cx="7398737" cy="37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Morning fungal concentrations exceed afternoon levels due to spore release after overnight settling (Shelton et al., 2002).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600" y="2627709"/>
            <a:ext cx="7924800" cy="864096"/>
          </a:xfrm>
          <a:prstGeom prst="roundRect">
            <a:avLst>
              <a:gd name="adj" fmla="val 1175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76418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0382" y="2840385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E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28576" y="2764185"/>
            <a:ext cx="161936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HVAC &amp; Filtration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28576" y="2983260"/>
            <a:ext cx="6931179" cy="37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Heating, Ventilation, and Air Conditioning (HVAC) systems reduce indoor spore counts by trapping airborne particles (Hanson, 2005).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3580656"/>
            <a:ext cx="7924800" cy="668536"/>
          </a:xfrm>
          <a:prstGeom prst="roundRect">
            <a:avLst>
              <a:gd name="adj" fmla="val 1519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6826" y="371713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10382" y="3793331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E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28576" y="3717131"/>
            <a:ext cx="20454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Antifungal Resistance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28576" y="3936206"/>
            <a:ext cx="78185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Emerging azole resistance in Aspergillus, particularly to fluconazole, is a growing clinical concern (Arendrup, 2014).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D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32035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Study Area &amp; Climate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677888"/>
            <a:ext cx="3632091" cy="32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B43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University of Cape Coast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2127349"/>
            <a:ext cx="3301901" cy="177666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Coastal savanna zone, Ghana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Dry season (November), prior to the onset of harmattan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Humidity: 65–75%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Temperature: 28–32°C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Six student halls sampled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3981152"/>
            <a:ext cx="3632091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Sampling period: November, dry season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16301" y="1149251"/>
            <a:ext cx="4317950" cy="3555950"/>
          </a:xfrm>
          <a:prstGeom prst="roundRect">
            <a:avLst>
              <a:gd name="adj" fmla="val 3571"/>
            </a:avLst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70202" y="1403152"/>
            <a:ext cx="3810000" cy="3048000"/>
          </a:xfrm>
          <a:prstGeom prst="roundRect">
            <a:avLst>
              <a:gd name="adj" fmla="val 3333"/>
            </a:avLst>
          </a:prstGeom>
          <a:noFill/>
          <a:ln w="19050">
            <a:solidFill>
              <a:srgbClr val="A8D4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8358" y="2588716"/>
            <a:ext cx="207368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Map of UCC Campus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00330" y="2874466"/>
            <a:ext cx="2949744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Showing locations of Volta, Limpopo, Atlantic,</a:t>
            </a:r>
            <a:endParaRPr lang="en-US" sz="1100" dirty="0"/>
          </a:p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Kwame Nkrumah, Adehye &amp; Valco Halls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57051"/>
          </a:xfrm>
          <a:prstGeom prst="rect">
            <a:avLst/>
          </a:prstGeom>
          <a:solidFill>
            <a:srgbClr val="122D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53876"/>
            <a:ext cx="4722502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Materials &amp; Methods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710952"/>
            <a:ext cx="1777901" cy="232648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69950" y="93955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41996" y="1049089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679" y="1523702"/>
            <a:ext cx="1039743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Sampling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1738" y="1831032"/>
            <a:ext cx="1493624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Settle plate method on SDA; AM &amp; PM sampling at each hall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90651" y="710952"/>
            <a:ext cx="1777901" cy="232648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51002" y="93955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23047" y="1049089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2639" y="1523702"/>
            <a:ext cx="1113925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Incubation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32789" y="1831032"/>
            <a:ext cx="1493624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28°C for 5–7 days; daily observation of colony growth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1702" y="710952"/>
            <a:ext cx="1777901" cy="232648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32053" y="93955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04098" y="1049089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75061" y="1523702"/>
            <a:ext cx="1371183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13841" y="1831032"/>
            <a:ext cx="1493624" cy="105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Macroscopic &amp; microscopic morphology; lactophenol cotton blue staining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52754" y="710952"/>
            <a:ext cx="1777901" cy="232648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13104" y="93955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85149" y="1049089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38637" y="1523702"/>
            <a:ext cx="1206133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CFU Count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94892" y="1831032"/>
            <a:ext cx="1493624" cy="84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Colony counts converted to CFU/m³ using Omeliansky formula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41550" y="3240584"/>
            <a:ext cx="3860750" cy="1739801"/>
          </a:xfrm>
          <a:prstGeom prst="roundRect">
            <a:avLst>
              <a:gd name="adj" fmla="val 73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43251" y="346918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15296" y="3578721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42869" y="4053334"/>
            <a:ext cx="2458114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Antifungal Susceptibility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31617" y="4360664"/>
            <a:ext cx="3680616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Disc diffusion method with ketoconazole, fluconazole, itraconazole &amp; griseofulvin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D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624445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Results: Fungal Concentrations (CFU/m³)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88802"/>
            <a:ext cx="4382839" cy="352425"/>
          </a:xfrm>
          <a:prstGeom prst="roundRect">
            <a:avLst>
              <a:gd name="adj" fmla="val 21622"/>
            </a:avLst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7301" y="965002"/>
            <a:ext cx="4430182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ALL halls comply with WHO guideline (&lt;50 CFU/m³)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393627"/>
            <a:ext cx="7924800" cy="374452"/>
          </a:xfrm>
          <a:prstGeom prst="roundRect">
            <a:avLst>
              <a:gd name="adj" fmla="val 2035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301" y="1495127"/>
            <a:ext cx="267703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Sampling Site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55709" y="1495127"/>
            <a:ext cx="165093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AM CFU/m³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5659" y="1495127"/>
            <a:ext cx="165093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PM CFU/m³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222" y="1495127"/>
            <a:ext cx="188976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Overall Mean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1768078"/>
            <a:ext cx="7924800" cy="349151"/>
          </a:xfrm>
          <a:prstGeom prst="rect">
            <a:avLst/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7301" y="1856929"/>
            <a:ext cx="267703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Volta Hall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04911" y="1856929"/>
            <a:ext cx="175253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45.1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74861" y="1856929"/>
            <a:ext cx="175253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28.3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96542" y="1856929"/>
            <a:ext cx="210312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36.7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2117229"/>
            <a:ext cx="7924800" cy="3491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7301" y="2206079"/>
            <a:ext cx="267703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Limpopo Hall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04911" y="2206079"/>
            <a:ext cx="175253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49.3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4861" y="2206079"/>
            <a:ext cx="175253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28.3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96542" y="2206079"/>
            <a:ext cx="210312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38.8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2466380"/>
            <a:ext cx="7924800" cy="349151"/>
          </a:xfrm>
          <a:prstGeom prst="rect">
            <a:avLst/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7301" y="2555230"/>
            <a:ext cx="267703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Atlantic Hall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04911" y="2555230"/>
            <a:ext cx="175253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38.8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74861" y="2555230"/>
            <a:ext cx="175253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24.1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96542" y="2555230"/>
            <a:ext cx="210312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31.4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9600" y="2815530"/>
            <a:ext cx="7924800" cy="3491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87301" y="2904381"/>
            <a:ext cx="254750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Kwame Nkrumah Hall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04911" y="2904381"/>
            <a:ext cx="175253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45.1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74861" y="2904381"/>
            <a:ext cx="175253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24.1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96542" y="2904381"/>
            <a:ext cx="210312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34.6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9600" y="3164681"/>
            <a:ext cx="7924800" cy="349151"/>
          </a:xfrm>
          <a:prstGeom prst="rect">
            <a:avLst/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87301" y="3253532"/>
            <a:ext cx="267703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Adehye Hall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04911" y="3253532"/>
            <a:ext cx="175253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38.8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74861" y="3253532"/>
            <a:ext cx="175253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24.1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96542" y="3253532"/>
            <a:ext cx="210312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31.4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9600" y="3513832"/>
            <a:ext cx="7924800" cy="3491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87301" y="3602682"/>
            <a:ext cx="267703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Valco Hall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704911" y="3602682"/>
            <a:ext cx="175253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38.8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74861" y="3602682"/>
            <a:ext cx="175253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21.0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96542" y="3602682"/>
            <a:ext cx="210312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29.9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9600" y="403696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12602" y="3989933"/>
            <a:ext cx="5180633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All values below WHO threshold of 50 CFU/m³ — all buildings in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D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613990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Results: Temporal Variation (AM vs PM)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06202"/>
            <a:ext cx="38100" cy="406301"/>
          </a:xfrm>
          <a:prstGeom prst="roundRect">
            <a:avLst>
              <a:gd name="adj" fmla="val 66667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780901"/>
            <a:ext cx="8343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Morning Concentrations Consistently Higher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0100" y="1085701"/>
            <a:ext cx="8121015" cy="53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AM counts ranged from 38.8 to 49.3 CFU/m³; PM counts from 21.0 to 28.3 CFU/m³ across all halls.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1761381"/>
            <a:ext cx="38100" cy="406301"/>
          </a:xfrm>
          <a:prstGeom prst="roundRect">
            <a:avLst>
              <a:gd name="adj" fmla="val 66667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0100" y="1736080"/>
            <a:ext cx="8343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Entrance Doors &amp; Windows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0100" y="2040880"/>
            <a:ext cx="8121015" cy="53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Entrance doors are wide open at all times; windows are permanently closed due to constant AC operation.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2716560"/>
            <a:ext cx="38100" cy="406301"/>
          </a:xfrm>
          <a:prstGeom prst="roundRect">
            <a:avLst>
              <a:gd name="adj" fmla="val 66667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0100" y="2691259"/>
            <a:ext cx="8343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HVAC Filtration Explains PM Reduction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0100" y="2996059"/>
            <a:ext cx="8121015" cy="806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Heating, Ventilation, and Air Conditioning (HVAC) filters trap airborne spores throughout the day. This cumulative filtration, combined with dilution from the wide-open entrance, explains the consistent afternoon decline.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3946178"/>
            <a:ext cx="2438400" cy="1127522"/>
          </a:xfrm>
          <a:prstGeom prst="roundRect">
            <a:avLst>
              <a:gd name="adj" fmla="val 11264"/>
            </a:avLst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1531" y="4149328"/>
            <a:ext cx="28745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43.0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37341" y="4657279"/>
            <a:ext cx="258291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Mean AM CFU/m³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51150" y="3946178"/>
            <a:ext cx="2438400" cy="1127522"/>
          </a:xfrm>
          <a:prstGeom prst="roundRect">
            <a:avLst>
              <a:gd name="adj" fmla="val 11264"/>
            </a:avLst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33081" y="4149328"/>
            <a:ext cx="28745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E18C7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25.0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178891" y="4657279"/>
            <a:ext cx="258291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Mean PM CFU/m³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92701" y="3946178"/>
            <a:ext cx="2438400" cy="1127522"/>
          </a:xfrm>
          <a:prstGeom prst="roundRect">
            <a:avLst>
              <a:gd name="adj" fmla="val 11264"/>
            </a:avLst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74632" y="4149328"/>
            <a:ext cx="28745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42%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820442" y="4657279"/>
            <a:ext cx="258291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PM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D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575611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Results: Spatial Variation Across Halls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149697"/>
            <a:ext cx="2438400" cy="1527423"/>
          </a:xfrm>
          <a:prstGeom prst="roundRect">
            <a:avLst>
              <a:gd name="adj" fmla="val 83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1531" y="1403598"/>
            <a:ext cx="2874538" cy="52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38.8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37341" y="1962448"/>
            <a:ext cx="258291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Limpopo Hall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9831" y="2227659"/>
            <a:ext cx="245793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Highest overall mean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149697"/>
            <a:ext cx="2438400" cy="1527423"/>
          </a:xfrm>
          <a:prstGeom prst="roundRect">
            <a:avLst>
              <a:gd name="adj" fmla="val 83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82331" y="1403598"/>
            <a:ext cx="2874538" cy="52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36.7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128141" y="1962448"/>
            <a:ext cx="258291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Volta Hall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28141" y="2227659"/>
            <a:ext cx="258291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Second highest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91200" y="1149697"/>
            <a:ext cx="2438400" cy="1527423"/>
          </a:xfrm>
          <a:prstGeom prst="roundRect">
            <a:avLst>
              <a:gd name="adj" fmla="val 83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73131" y="1403598"/>
            <a:ext cx="2874538" cy="52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34.6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781431" y="1962448"/>
            <a:ext cx="245793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Kwame Nkrumah Hall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18941" y="2227659"/>
            <a:ext cx="258291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Third highest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2000" y="2829520"/>
            <a:ext cx="2438400" cy="1527423"/>
          </a:xfrm>
          <a:prstGeom prst="roundRect">
            <a:avLst>
              <a:gd name="adj" fmla="val 83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3931" y="3083421"/>
            <a:ext cx="2874538" cy="52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31.4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89741" y="3642271"/>
            <a:ext cx="258291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Atlantic Hall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2231" y="3907482"/>
            <a:ext cx="245793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Tied with Adehye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2800" y="2829520"/>
            <a:ext cx="2438400" cy="1527423"/>
          </a:xfrm>
          <a:prstGeom prst="roundRect">
            <a:avLst>
              <a:gd name="adj" fmla="val 83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134731" y="3083421"/>
            <a:ext cx="2874538" cy="52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31.4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3280541" y="3642271"/>
            <a:ext cx="258291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Adehye Hall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43031" y="3907482"/>
            <a:ext cx="245793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Tied with Atlantic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2829520"/>
            <a:ext cx="2438400" cy="1527423"/>
          </a:xfrm>
          <a:prstGeom prst="roundRect">
            <a:avLst>
              <a:gd name="adj" fmla="val 83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725531" y="3083421"/>
            <a:ext cx="2874538" cy="52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E18C7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29.9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5871341" y="3642271"/>
            <a:ext cx="258291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Valco Hall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33831" y="3907482"/>
            <a:ext cx="245793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Lowest overall mean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9600" y="4509343"/>
            <a:ext cx="85344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All values are overall means in CFU/m³ — all below the WHO threshold of 50 CFU/m³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D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638175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Macroscopic Morphology of Pure Cultures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63501"/>
            <a:ext cx="1650950" cy="1269950"/>
          </a:xfrm>
          <a:prstGeom prst="roundRect">
            <a:avLst>
              <a:gd name="adj" fmla="val 8000"/>
            </a:avLst>
          </a:prstGeom>
          <a:solidFill>
            <a:srgbClr val="EEF7F1"/>
          </a:solidFill>
          <a:ln w="19050">
            <a:solidFill>
              <a:srgbClr val="A8D4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5571" y="1302841"/>
            <a:ext cx="63886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Plate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7472" y="1512391"/>
            <a:ext cx="57520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[Photo]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87501" y="1147911"/>
            <a:ext cx="233781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Aspergillus niger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87501" y="1429792"/>
            <a:ext cx="20802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Black colonies, white margin, powdery texture on SDA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46402" y="863501"/>
            <a:ext cx="1650950" cy="1269950"/>
          </a:xfrm>
          <a:prstGeom prst="roundRect">
            <a:avLst>
              <a:gd name="adj" fmla="val 8000"/>
            </a:avLst>
          </a:prstGeom>
          <a:solidFill>
            <a:srgbClr val="EEF7F1"/>
          </a:solidFill>
          <a:ln w="19050">
            <a:solidFill>
              <a:srgbClr val="A8D4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52373" y="1302841"/>
            <a:ext cx="63886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Plate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84274" y="1512391"/>
            <a:ext cx="57520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[Photo]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24302" y="1147911"/>
            <a:ext cx="233781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Aspergillus flavus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24302" y="1429792"/>
            <a:ext cx="20802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Yellow-green colonies, fluffy texture on SDA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600" y="2260402"/>
            <a:ext cx="1650950" cy="1269950"/>
          </a:xfrm>
          <a:prstGeom prst="roundRect">
            <a:avLst>
              <a:gd name="adj" fmla="val 8000"/>
            </a:avLst>
          </a:prstGeom>
          <a:solidFill>
            <a:srgbClr val="EEF7F1"/>
          </a:solidFill>
          <a:ln w="19050">
            <a:solidFill>
              <a:srgbClr val="A8D4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15571" y="2699742"/>
            <a:ext cx="63886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Plate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472" y="2909292"/>
            <a:ext cx="57520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[Photo]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87501" y="2544812"/>
            <a:ext cx="233781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Aspergillus fumigatus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87501" y="2826693"/>
            <a:ext cx="20802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Bluish-green colonies, velvety texture on SDA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46402" y="2260402"/>
            <a:ext cx="1650950" cy="1269950"/>
          </a:xfrm>
          <a:prstGeom prst="roundRect">
            <a:avLst>
              <a:gd name="adj" fmla="val 8000"/>
            </a:avLst>
          </a:prstGeom>
          <a:solidFill>
            <a:srgbClr val="EEF7F1"/>
          </a:solidFill>
          <a:ln w="19050">
            <a:solidFill>
              <a:srgbClr val="A8D4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52373" y="2699742"/>
            <a:ext cx="63886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Plate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84274" y="2909292"/>
            <a:ext cx="57520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[Photo]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4302" y="2429321"/>
            <a:ext cx="2080260" cy="49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Penicillium chrysogenum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24302" y="2942332"/>
            <a:ext cx="20802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Blue-green with white margin, velvety texture on SDA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600" y="3708053"/>
            <a:ext cx="7924800" cy="711101"/>
          </a:xfrm>
          <a:prstGeom prst="roundRect">
            <a:avLst>
              <a:gd name="adj" fmla="val 14288"/>
            </a:avLst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2750" y="3835003"/>
            <a:ext cx="7894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Note: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Four fungal species were isolated and identified. Pure cultures were grown on Sabouraud Dextrose Agar (SDA) at 28°C for 5–7 days.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D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645300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Results: Species Composition &amp; Prevalence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08075"/>
            <a:ext cx="474974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Four Species Isolated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600" y="199072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8051" y="1908125"/>
            <a:ext cx="449844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Aspergillus niger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— most prevalent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240982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E6B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051" y="2327225"/>
            <a:ext cx="449844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Aspergillus flavus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— second most prevalent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600" y="282892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60A8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8051" y="2746325"/>
            <a:ext cx="449844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Aspergillus fumigatus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— third most prevalent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324802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8051" y="3165425"/>
            <a:ext cx="449844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Penicillium chrysogenum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— least prevalent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3635276"/>
            <a:ext cx="4317950" cy="7111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3635276"/>
            <a:ext cx="0" cy="711101"/>
          </a:xfrm>
          <a:prstGeom prst="line">
            <a:avLst/>
          </a:prstGeom>
          <a:noFill/>
          <a:ln w="47625">
            <a:solidFill>
              <a:srgbClr val="E18C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926" y="3762226"/>
            <a:ext cx="41106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finding: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Aspergillus species dominated across all six halls, consistent with tropical indoor air studies.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81451" y="1436787"/>
            <a:ext cx="3301901" cy="2980879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83883" y="1690688"/>
            <a:ext cx="32970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Species Distribution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35352" y="2106513"/>
            <a:ext cx="36323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A. niger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35352" y="2297013"/>
            <a:ext cx="2793950" cy="228600"/>
          </a:xfrm>
          <a:prstGeom prst="roundRect">
            <a:avLst>
              <a:gd name="adj" fmla="val 22222"/>
            </a:avLst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35352" y="2297013"/>
            <a:ext cx="1955750" cy="228600"/>
          </a:xfrm>
          <a:prstGeom prst="roundRect">
            <a:avLst>
              <a:gd name="adj" fmla="val 22222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35352" y="2652564"/>
            <a:ext cx="36323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A. flavus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35352" y="2843064"/>
            <a:ext cx="2793950" cy="228600"/>
          </a:xfrm>
          <a:prstGeom prst="roundRect">
            <a:avLst>
              <a:gd name="adj" fmla="val 22222"/>
            </a:avLst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35352" y="2843064"/>
            <a:ext cx="1536650" cy="228600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35352" y="3198614"/>
            <a:ext cx="34646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A. fumigatus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35352" y="3389114"/>
            <a:ext cx="2793950" cy="228600"/>
          </a:xfrm>
          <a:prstGeom prst="roundRect">
            <a:avLst>
              <a:gd name="adj" fmla="val 22222"/>
            </a:avLst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35352" y="3389114"/>
            <a:ext cx="1117550" cy="228600"/>
          </a:xfrm>
          <a:prstGeom prst="roundRect">
            <a:avLst>
              <a:gd name="adj" fmla="val 22222"/>
            </a:avLst>
          </a:prstGeom>
          <a:solidFill>
            <a:srgbClr val="60A8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35352" y="3744664"/>
            <a:ext cx="34646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0A8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P. chrysogenum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35352" y="3935164"/>
            <a:ext cx="2793950" cy="228600"/>
          </a:xfrm>
          <a:prstGeom prst="roundRect">
            <a:avLst>
              <a:gd name="adj" fmla="val 22222"/>
            </a:avLst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435352" y="3935164"/>
            <a:ext cx="698450" cy="228600"/>
          </a:xfrm>
          <a:prstGeom prst="roundRect">
            <a:avLst>
              <a:gd name="adj" fmla="val 22222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D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6751"/>
            <a:ext cx="5645795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Results: Antifungal Susceptibility Profiles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787301"/>
            <a:ext cx="1177082" cy="228600"/>
          </a:xfrm>
          <a:prstGeom prst="roundRect">
            <a:avLst>
              <a:gd name="adj" fmla="val 22222"/>
            </a:avLst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825401"/>
            <a:ext cx="11494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</a:t>
            </a:r>
            <a:pPr algn="l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= Susceptible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88182" y="787301"/>
            <a:ext cx="1176933" cy="228600"/>
          </a:xfrm>
          <a:prstGeom prst="roundRect">
            <a:avLst>
              <a:gd name="adj" fmla="val 22222"/>
            </a:avLst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89683" y="825401"/>
            <a:ext cx="11492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</a:t>
            </a:r>
            <a:pPr algn="l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= Intermediate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66616" y="787301"/>
            <a:ext cx="1045071" cy="228600"/>
          </a:xfrm>
          <a:prstGeom prst="roundRect">
            <a:avLst>
              <a:gd name="adj" fmla="val 22222"/>
            </a:avLst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68117" y="825401"/>
            <a:ext cx="10441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</a:t>
            </a:r>
            <a:pPr algn="l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= Resistant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600" y="1092101"/>
            <a:ext cx="7924800" cy="304800"/>
          </a:xfrm>
          <a:prstGeom prst="roundRect">
            <a:avLst>
              <a:gd name="adj" fmla="val 25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6550" y="1168301"/>
            <a:ext cx="198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Organism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92922" y="1168301"/>
            <a:ext cx="17321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Ketoconazole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89823" y="1168301"/>
            <a:ext cx="17321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Fluconazole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86724" y="1168301"/>
            <a:ext cx="17321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Itraconazole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83625" y="1168301"/>
            <a:ext cx="17321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Griseofulvin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1396901"/>
            <a:ext cx="7924800" cy="279202"/>
          </a:xfrm>
          <a:prstGeom prst="rect">
            <a:avLst/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6550" y="1460302"/>
            <a:ext cx="198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A. niger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1015" y="1460302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 (18mm)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47916" y="1460302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8C7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 (0mm)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4817" y="1460302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 (20mm)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41718" y="1460302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 (12mm)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600" y="1676102"/>
            <a:ext cx="7924800" cy="2792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6550" y="1739503"/>
            <a:ext cx="198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A. flavus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51015" y="1739503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 (16mm)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47916" y="1739503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8C7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 (0mm)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4817" y="1739503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 (17mm)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41718" y="1739503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 (11mm)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9600" y="1955304"/>
            <a:ext cx="7924800" cy="279202"/>
          </a:xfrm>
          <a:prstGeom prst="rect">
            <a:avLst/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36550" y="2018705"/>
            <a:ext cx="188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A. fumigatus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51015" y="2018705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 (15mm)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47916" y="2018705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8C7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 (0mm)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4817" y="2018705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 (19mm)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41718" y="2018705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 (14mm)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9600" y="2234505"/>
            <a:ext cx="7924800" cy="2792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36550" y="2297906"/>
            <a:ext cx="188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P. chrysogenum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051015" y="2297906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 (19mm)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47916" y="2297906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8C7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 (0mm)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4817" y="2297906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 (21mm)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41718" y="2297906"/>
            <a:ext cx="1815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BD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 (13mm)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9600" y="2615208"/>
            <a:ext cx="1905000" cy="697111"/>
          </a:xfrm>
          <a:prstGeom prst="roundRect">
            <a:avLst>
              <a:gd name="adj" fmla="val 10931"/>
            </a:avLst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36550" y="2691408"/>
            <a:ext cx="1733654" cy="58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Zone of inhibition: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Diameter where growth is inhibited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616101" y="2615208"/>
            <a:ext cx="1905149" cy="697111"/>
          </a:xfrm>
          <a:prstGeom prst="roundRect">
            <a:avLst>
              <a:gd name="adj" fmla="val 10931"/>
            </a:avLst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743051" y="2691408"/>
            <a:ext cx="173381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Susceptible (S):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Effective at standard dose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22750" y="2615208"/>
            <a:ext cx="1905000" cy="697111"/>
          </a:xfrm>
          <a:prstGeom prst="roundRect">
            <a:avLst>
              <a:gd name="adj" fmla="val 10931"/>
            </a:avLst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49701" y="2691408"/>
            <a:ext cx="1733654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Intermediate (I):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May respond at higher doses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29251" y="2615208"/>
            <a:ext cx="1905149" cy="697111"/>
          </a:xfrm>
          <a:prstGeom prst="roundRect">
            <a:avLst>
              <a:gd name="adj" fmla="val 10931"/>
            </a:avLst>
          </a:prstGeom>
          <a:solidFill>
            <a:srgbClr val="EEF7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56202" y="2691408"/>
            <a:ext cx="173381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Resistant (R):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Not effective at high conc.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09600" y="3413820"/>
            <a:ext cx="7924800" cy="842814"/>
          </a:xfrm>
          <a:prstGeom prst="roundRect">
            <a:avLst>
              <a:gd name="adj" fmla="val 9041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87301" y="3515320"/>
            <a:ext cx="7947868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100% Fluconazole Resistance (0mm zone): All four species showed complete resistance. This is a significant public health concern as fluconazole is a first-line antifungal — its ineffectiveness requires alternative therapeutic strategies.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996529"/>
            <a:ext cx="2560320" cy="100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0B1E1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Discussion</a:t>
            </a:r>
            <a:endParaRPr lang="en-US" sz="3200" dirty="0"/>
          </a:p>
          <a:p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0B1E1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Highlights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04800" y="3108871"/>
            <a:ext cx="406301" cy="381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54301" y="1121718"/>
            <a:ext cx="50750" cy="457200"/>
          </a:xfrm>
          <a:prstGeom prst="roundRect">
            <a:avLst>
              <a:gd name="adj" fmla="val 50049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32002" y="1070967"/>
            <a:ext cx="184879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WHO Compliance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2002" y="1299567"/>
            <a:ext cx="5350669" cy="40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All six halls below WHO 50 CFU/m³ threshold. HVAC filtration contributes to low spore counts.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54301" y="1910209"/>
            <a:ext cx="50750" cy="457200"/>
          </a:xfrm>
          <a:prstGeom prst="roundRect">
            <a:avLst>
              <a:gd name="adj" fmla="val 50049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32002" y="1859459"/>
            <a:ext cx="233044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Aspergillus Dominance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32002" y="2088059"/>
            <a:ext cx="4776222" cy="40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Aspergillus species accounted for majority of isolates. A. niger most prevalent across all sites.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4301" y="2698700"/>
            <a:ext cx="50750" cy="457200"/>
          </a:xfrm>
          <a:prstGeom prst="roundRect">
            <a:avLst>
              <a:gd name="adj" fmla="val 50049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32002" y="2647950"/>
            <a:ext cx="237733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Fluconazole Resistance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2002" y="2876550"/>
            <a:ext cx="5105638" cy="40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Universal fluconazole resistance is a public health concern. Itraconazole and ketoconazole remain effective.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4301" y="3487192"/>
            <a:ext cx="50750" cy="457200"/>
          </a:xfrm>
          <a:prstGeom prst="roundRect">
            <a:avLst>
              <a:gd name="adj" fmla="val 50049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32002" y="3436441"/>
            <a:ext cx="267219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HVAC &amp; Temporal Patterns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32002" y="3665041"/>
            <a:ext cx="5360514" cy="40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Continuous HVAC filtration reduces spore concentrations, explaining AM-to-PM decline across all halls.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D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88881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Conclusion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85764"/>
            <a:ext cx="507950" cy="381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725364"/>
            <a:ext cx="4124902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600" y="219253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301" y="2116336"/>
            <a:ext cx="3547162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All six halls complied with WHO guideline of 50 CFU/m³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75599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7301" y="2679799"/>
            <a:ext cx="3547162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Four species: A. niger, A. flavus, A. fumigatus, P. chrysogenum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331946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7301" y="3243263"/>
            <a:ext cx="3547162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AM counts higher than PM due to overnight spore settling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" y="388292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7301" y="3806726"/>
            <a:ext cx="3547162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100% fluconazole resistance warrants clinical vigilance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68701" y="1530251"/>
            <a:ext cx="12650" cy="2793950"/>
          </a:xfrm>
          <a:prstGeom prst="rect">
            <a:avLst/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84502" y="1585764"/>
            <a:ext cx="507950" cy="38100"/>
          </a:xfrm>
          <a:prstGeom prst="rect">
            <a:avLst/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84502" y="1725364"/>
            <a:ext cx="3911545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84502" y="219253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2202" y="2116336"/>
            <a:ext cx="3547162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Regular HVAC filter maintenance for spore filtration efficiency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84502" y="275599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62202" y="2679799"/>
            <a:ext cx="3547162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Periodic indoor air quality monitoring in high-traffic areas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84502" y="331946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2202" y="3243263"/>
            <a:ext cx="3547162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Itraconazole as preferred alternative given fluconazole resistance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84502" y="388292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62202" y="3806726"/>
            <a:ext cx="3547162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Further studies during harmattan for seasonal comparison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8450" y="122574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" y="1657499"/>
            <a:ext cx="8595211" cy="62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6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267200" y="2490490"/>
            <a:ext cx="609600" cy="381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13278" y="2782491"/>
            <a:ext cx="2317444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2800"/>
              </a:spcAft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23001" y="3422452"/>
            <a:ext cx="52978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Acknowledgements: Department of Microbiology &amp; Biochemistry, UCC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81309" y="3720703"/>
            <a:ext cx="4981233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Supervisor and laboratory technicians for their guidance and support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Fungal Microflora of Indoor Air in Reception Areas of Student Halls of Residence at the University of Cape Coast</dc:title>
  <dc:subject>PptxGenJS Presentation</dc:subject>
  <dc:creator>B.Sc. Microbiology Student</dc:creator>
  <cp:lastModifiedBy>B.Sc. Microbiology Student</cp:lastModifiedBy>
  <cp:revision>1</cp:revision>
  <dcterms:created xsi:type="dcterms:W3CDTF">2026-06-06T18:07:36Z</dcterms:created>
  <dcterms:modified xsi:type="dcterms:W3CDTF">2026-06-06T18:07:36Z</dcterms:modified>
</cp:coreProperties>
</file>